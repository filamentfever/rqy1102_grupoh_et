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aDpeHuXfdId309D2NdohtVPmf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46f6ab0c8_4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f46f6ab0c8_4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46f6ab0c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f46f6ab0c8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hyperlink" Target="https://dean-ripen-42395481.figma.site/" TargetMode="External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29" y="495097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COREAPP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INGENIERÍA DE SOFTWARE | RQY1102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scuelaIT Duoc UC - Escuela de Informática y Telecomunicaciones Duoc UC - Duoc  UC | LinkedIn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7963" y="4463247"/>
            <a:ext cx="4536009" cy="1144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2"/>
          <p:cNvGrpSpPr/>
          <p:nvPr/>
        </p:nvGrpSpPr>
        <p:grpSpPr>
          <a:xfrm>
            <a:off x="4121026" y="1710819"/>
            <a:ext cx="7633494" cy="4350553"/>
            <a:chOff x="0" y="0"/>
            <a:chExt cx="7633494" cy="4350553"/>
          </a:xfrm>
        </p:grpSpPr>
        <p:sp>
          <p:nvSpPr>
            <p:cNvPr id="93" name="Google Shape;93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Martina Cordova Aliaga</a:t>
              </a:r>
              <a:endParaRPr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t/>
              </a:r>
              <a:endParaRPr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Creación 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prototipo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Ignacio Retamal Valdivia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DAS. Carta Gantt. 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Fabián Millar Castillo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Verificar funcionalidades y requisitos de calidad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COREAPP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INTEGRANTES, ROLES Y TIPO DE ORGANIZACIÓN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“COREAPP”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Y PROPUESTA DE SOLUCIÓN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3" name="Google Shape;113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/ Necesidad del Cliente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Nos centramos en el edificio ‘El Mirador’ un complejo de edificios de alta densidad que se enfrenta a problemas de comunicación con su comunidad.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 de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propone un sistema móvil, diseñada para digitalizar y acelerar los procesos administrativos y operativos del edificio. Busca eliminar procesos manuales, para que tanto personal como residentes pueden gestionar sus obligaciones y necesidades de forma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instantánea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0" name="Google Shape;1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“COREAPP”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 DEL SOFTWARE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4" name="Google Shape;124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Fases aplicadas al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200">
                <a:solidFill>
                  <a:schemeClr val="dk1"/>
                </a:solidFill>
              </a:rPr>
              <a:t>Análisis</a:t>
            </a:r>
            <a:r>
              <a:rPr lang="es-CL" sz="1200">
                <a:solidFill>
                  <a:schemeClr val="dk1"/>
                </a:solidFill>
              </a:rPr>
              <a:t>: Levantamiento de requerimientos funcionales y no funcionales con los distintos actores del sistema. </a:t>
            </a:r>
            <a:br>
              <a:rPr lang="es-CL" sz="1200">
                <a:solidFill>
                  <a:schemeClr val="dk1"/>
                </a:solidFill>
              </a:rPr>
            </a:br>
            <a:r>
              <a:rPr b="1" lang="es-CL" sz="1200">
                <a:solidFill>
                  <a:schemeClr val="dk1"/>
                </a:solidFill>
              </a:rPr>
              <a:t>Diseño</a:t>
            </a:r>
            <a:r>
              <a:rPr lang="es-CL" sz="1200">
                <a:solidFill>
                  <a:schemeClr val="dk1"/>
                </a:solidFill>
              </a:rPr>
              <a:t>: Modelado de la arquitectura de software mediante diagramas UML y creación de prototipos de alta fidelidad utilizando Figma. </a:t>
            </a:r>
            <a:br>
              <a:rPr lang="es-CL" sz="1200">
                <a:solidFill>
                  <a:schemeClr val="dk1"/>
                </a:solidFill>
              </a:rPr>
            </a:br>
            <a:r>
              <a:rPr b="1" lang="es-CL" sz="1200">
                <a:solidFill>
                  <a:schemeClr val="dk1"/>
                </a:solidFill>
              </a:rPr>
              <a:t>Desarrollo</a:t>
            </a:r>
            <a:r>
              <a:rPr lang="es-CL" sz="1200">
                <a:solidFill>
                  <a:schemeClr val="dk1"/>
                </a:solidFill>
              </a:rPr>
              <a:t>: Construcción modular del sistema aplicando principios de diseño y gestionando el código de forma colaborativa. </a:t>
            </a:r>
            <a:br>
              <a:rPr lang="es-CL" sz="1200">
                <a:solidFill>
                  <a:schemeClr val="dk1"/>
                </a:solidFill>
              </a:rPr>
            </a:br>
            <a:r>
              <a:rPr b="1" lang="es-CL" sz="1200">
                <a:solidFill>
                  <a:schemeClr val="dk1"/>
                </a:solidFill>
              </a:rPr>
              <a:t>Testing</a:t>
            </a:r>
            <a:r>
              <a:rPr lang="es-CL" sz="1200">
                <a:solidFill>
                  <a:schemeClr val="dk1"/>
                </a:solidFill>
              </a:rPr>
              <a:t>: Ejecución de planes de prueba y aplicación de la Evaluación Heurística de Nielsen para validar la usabilidad y el correcto funcionamiento de las interfaces</a:t>
            </a:r>
            <a:br>
              <a:rPr lang="es-CL" sz="1200">
                <a:solidFill>
                  <a:schemeClr val="dk1"/>
                </a:solidFill>
              </a:rPr>
            </a:br>
            <a:r>
              <a:rPr b="1" lang="es-CL" sz="1200">
                <a:solidFill>
                  <a:schemeClr val="dk1"/>
                </a:solidFill>
              </a:rPr>
              <a:t> Mantenimiento</a:t>
            </a:r>
            <a:r>
              <a:rPr lang="es-CL" sz="1200">
                <a:solidFill>
                  <a:schemeClr val="dk1"/>
                </a:solidFill>
              </a:rPr>
              <a:t>: Refinamiento continuo del sistema basado en los hallazgos de las pruebas y la retroalimentación del cliente.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chemeClr val="dk1"/>
                </a:solidFill>
              </a:rPr>
              <a:t>Normativa aplicada</a:t>
            </a:r>
            <a:r>
              <a:rPr lang="es-CL" sz="1200">
                <a:solidFill>
                  <a:schemeClr val="dk1"/>
                </a:solidFill>
              </a:rPr>
              <a:t>: Scrum (</a:t>
            </a:r>
            <a:r>
              <a:rPr lang="es-CL" sz="1200">
                <a:solidFill>
                  <a:schemeClr val="dk1"/>
                </a:solidFill>
              </a:rPr>
              <a:t>metodología</a:t>
            </a:r>
            <a:r>
              <a:rPr lang="es-CL" sz="1200">
                <a:solidFill>
                  <a:schemeClr val="dk1"/>
                </a:solidFill>
              </a:rPr>
              <a:t> </a:t>
            </a:r>
            <a:r>
              <a:rPr lang="es-CL" sz="1200">
                <a:solidFill>
                  <a:schemeClr val="dk1"/>
                </a:solidFill>
              </a:rPr>
              <a:t>ágil</a:t>
            </a:r>
            <a:r>
              <a:rPr lang="es-CL" sz="1200">
                <a:solidFill>
                  <a:schemeClr val="dk1"/>
                </a:solidFill>
              </a:rPr>
              <a:t>)</a:t>
            </a:r>
            <a:br>
              <a:rPr lang="es-CL" sz="1200">
                <a:solidFill>
                  <a:schemeClr val="dk1"/>
                </a:solidFill>
              </a:rPr>
            </a:br>
            <a:r>
              <a:rPr b="1" lang="es-CL" sz="1200">
                <a:solidFill>
                  <a:schemeClr val="dk1"/>
                </a:solidFill>
              </a:rPr>
              <a:t>Justificación</a:t>
            </a:r>
            <a:r>
              <a:rPr lang="es-CL" sz="1200">
                <a:solidFill>
                  <a:schemeClr val="dk1"/>
                </a:solidFill>
              </a:rPr>
              <a:t>: Se seleccionó un enfoque ágil basado en Scrum debido a la necesidad de realizar entregas incrementales a lo largo del semestre. La estructura en sprints cortos permite adaptar rápidamente el sistema ante cualquier cambio en los requerimientos, facilitando la validación temprana de funcionalidades críticas , Además esta metodología se integra a la perfección con la estrategia de trabajo colaborativo y control de versiones secuencial en GitHub, optimizando la productividad del equipo.</a:t>
            </a:r>
            <a:r>
              <a:rPr lang="es-CL" sz="11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“COREAPP”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OBJETIVOS, ALCANCE Y LIMITACIONES DEL PROYECTO</a:t>
            </a:r>
            <a:endParaRPr/>
          </a:p>
        </p:txBody>
      </p:sp>
      <p:cxnSp>
        <p:nvCxnSpPr>
          <p:cNvPr id="134" name="Google Shape;134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5" name="Google Shape;135;p5"/>
          <p:cNvSpPr txBox="1"/>
          <p:nvPr/>
        </p:nvSpPr>
        <p:spPr>
          <a:xfrm>
            <a:off x="1176300" y="2628150"/>
            <a:ext cx="98394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Objetivo:Nuestro objetivo era poder ayudar en este caso a los trabajadores de recinto con una app que les facilitara el dia a dia, que les brinde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transparencia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los usuarios y que por lo mismo se sientan mas seguros</a:t>
            </a:r>
            <a:b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Alcance: el alcance al principio era solo los habitantes de el mirador, pero nos dimos cuenta que mientras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hacíamos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 prototipo se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podía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escalar la app a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recintos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ya sean edificios o otro</a:t>
            </a:r>
            <a:b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0" name="Google Shape;14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“COREAPP”</a:t>
            </a:r>
            <a:endParaRPr/>
          </a:p>
        </p:txBody>
      </p:sp>
      <p:sp>
        <p:nvSpPr>
          <p:cNvPr id="142" name="Google Shape;142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ESTRATEGIAS DE GESTIÓN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4" name="Google Shape;144;p6"/>
          <p:cNvSpPr txBox="1"/>
          <p:nvPr/>
        </p:nvSpPr>
        <p:spPr>
          <a:xfrm>
            <a:off x="1329750" y="2545825"/>
            <a:ext cx="9500100" cy="35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9" name="Google Shape;1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COREAPP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51" name="Google Shape;151;p7"/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DEL PROYECTO (EDT + CARTA GANTT)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Adjuntar Carta Gantt detallada. Indicar avance y cumplimiento al término del proyecto.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53" name="Google Shape;15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200608"/>
            <a:ext cx="11887199" cy="4128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8" name="Google Shape;1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COREAPP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60" name="Google Shape;160;p8"/>
          <p:cNvSpPr txBox="1"/>
          <p:nvPr/>
        </p:nvSpPr>
        <p:spPr>
          <a:xfrm>
            <a:off x="0" y="99290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SOFTWARE - MODELO 4+1 (UML)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1" name="Google Shape;161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62" name="Google Shape;16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200" y="2244718"/>
            <a:ext cx="5558694" cy="4104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47300" y="2007200"/>
            <a:ext cx="5724950" cy="424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8" name="Google Shape;168;g3f46f6ab0c8_4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f46f6ab0c8_4_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“COREAPP”</a:t>
            </a:r>
            <a:endParaRPr/>
          </a:p>
        </p:txBody>
      </p:sp>
      <p:sp>
        <p:nvSpPr>
          <p:cNvPr id="170" name="Google Shape;170;g3f46f6ab0c8_4_2"/>
          <p:cNvSpPr txBox="1"/>
          <p:nvPr/>
        </p:nvSpPr>
        <p:spPr>
          <a:xfrm>
            <a:off x="0" y="1432655"/>
            <a:ext cx="1219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" name="Google Shape;171;g3f46f6ab0c8_4_2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72" name="Google Shape;172;g3f46f6ab0c8_4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525" y="1051255"/>
            <a:ext cx="3673131" cy="3735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f46f6ab0c8_4_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2356" y="1051255"/>
            <a:ext cx="5448300" cy="352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f46f6ab0c8_4_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77850" y="4300225"/>
            <a:ext cx="5029074" cy="2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9" name="Google Shape;179;g3f46f6ab0c8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f46f6ab0c8_2_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“COREAPP”</a:t>
            </a:r>
            <a:endParaRPr/>
          </a:p>
        </p:txBody>
      </p:sp>
      <p:sp>
        <p:nvSpPr>
          <p:cNvPr id="181" name="Google Shape;181;g3f46f6ab0c8_2_0"/>
          <p:cNvSpPr txBox="1"/>
          <p:nvPr/>
        </p:nvSpPr>
        <p:spPr>
          <a:xfrm>
            <a:off x="0" y="6219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ESTÁNDARES DE CALIDAD - ISO25000 Y OTROS</a:t>
            </a:r>
            <a:endParaRPr/>
          </a:p>
        </p:txBody>
      </p:sp>
      <p:cxnSp>
        <p:nvCxnSpPr>
          <p:cNvPr id="182" name="Google Shape;182;g3f46f6ab0c8_2_0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83" name="Google Shape;183;g3f46f6ab0c8_2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1438" y="1215200"/>
            <a:ext cx="7029122" cy="558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8" name="Google Shape;18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COREAPP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41575" y="9929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FUNCIONALES Y NO FUNCIONALES</a:t>
            </a:r>
            <a:endParaRPr/>
          </a:p>
        </p:txBody>
      </p:sp>
      <p:cxnSp>
        <p:nvCxnSpPr>
          <p:cNvPr id="191" name="Google Shape;191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92" name="Google Shape;192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9213" y="1694726"/>
            <a:ext cx="10456726" cy="399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7" name="Google Shape;1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1"/>
          <p:cNvSpPr txBox="1"/>
          <p:nvPr/>
        </p:nvSpPr>
        <p:spPr>
          <a:xfrm>
            <a:off x="1" y="9928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PROTOTIPO DE ALTA FIDELIDAD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11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1288" y="2468246"/>
            <a:ext cx="4389424" cy="246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4" name="Google Shape;20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2"/>
          <p:cNvSpPr txBox="1"/>
          <p:nvPr/>
        </p:nvSpPr>
        <p:spPr>
          <a:xfrm>
            <a:off x="1" y="1157770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 DE PRUEBAS Y CASOS DE PRUEBA (ISO25000)</a:t>
            </a:r>
            <a:endParaRPr/>
          </a:p>
        </p:txBody>
      </p:sp>
      <p:pic>
        <p:nvPicPr>
          <p:cNvPr id="206" name="Google Shape;20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179600"/>
            <a:ext cx="11887202" cy="22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1" name="Google Shape;21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3"/>
          <p:cNvSpPr txBox="1"/>
          <p:nvPr/>
        </p:nvSpPr>
        <p:spPr>
          <a:xfrm>
            <a:off x="57001" y="1075823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ACCIONES DE MEJORA Y CONTROL DE VERSIONES</a:t>
            </a:r>
            <a:endParaRPr/>
          </a:p>
        </p:txBody>
      </p:sp>
      <p:pic>
        <p:nvPicPr>
          <p:cNvPr id="213" name="Google Shape;21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6825" y="2564625"/>
            <a:ext cx="5736699" cy="298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3"/>
          <p:cNvSpPr txBox="1"/>
          <p:nvPr/>
        </p:nvSpPr>
        <p:spPr>
          <a:xfrm>
            <a:off x="6877025" y="3542175"/>
            <a:ext cx="4559400" cy="18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41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Herramienta: GitHub (Repositorio remoto)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Práctica: Control de versiones secuencial (Numeración ascendente: v1.0, v1.1, v1.2...)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 txBox="1"/>
          <p:nvPr/>
        </p:nvSpPr>
        <p:spPr>
          <a:xfrm>
            <a:off x="8135675" y="2488650"/>
            <a:ext cx="204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Secuencial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0" name="Google Shape;22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